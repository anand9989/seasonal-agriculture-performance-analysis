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4" r:id="rId12"/>
    <p:sldId id="345"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5" d="100"/>
          <a:sy n="85" d="100"/>
        </p:scale>
        <p:origin x="494"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rutha ch" userId="589ce099da53d5a9" providerId="LiveId" clId="{EC8892FF-3BED-4195-A21A-393591AFE89D}"/>
    <pc:docChg chg="undo custSel modSld">
      <pc:chgData name="amrutha ch" userId="589ce099da53d5a9" providerId="LiveId" clId="{EC8892FF-3BED-4195-A21A-393591AFE89D}" dt="2026-09-07T13:16:02.843" v="71" actId="14100"/>
      <pc:docMkLst>
        <pc:docMk/>
      </pc:docMkLst>
      <pc:sldChg chg="addSp modSp mod">
        <pc:chgData name="amrutha ch" userId="589ce099da53d5a9" providerId="LiveId" clId="{EC8892FF-3BED-4195-A21A-393591AFE89D}" dt="2026-09-07T13:16:02.843" v="71" actId="14100"/>
        <pc:sldMkLst>
          <pc:docMk/>
          <pc:sldMk cId="3863610428" sldId="342"/>
        </pc:sldMkLst>
        <pc:spChg chg="add mod">
          <ac:chgData name="amrutha ch" userId="589ce099da53d5a9" providerId="LiveId" clId="{EC8892FF-3BED-4195-A21A-393591AFE89D}" dt="2026-09-07T13:16:02.843" v="71" actId="14100"/>
          <ac:spMkLst>
            <pc:docMk/>
            <pc:sldMk cId="3863610428" sldId="342"/>
            <ac:spMk id="3" creationId="{D656E143-0464-6D3B-F76B-85332906ECA9}"/>
          </ac:spMkLst>
        </pc:spChg>
        <pc:spChg chg="mod">
          <ac:chgData name="amrutha ch" userId="589ce099da53d5a9" providerId="LiveId" clId="{EC8892FF-3BED-4195-A21A-393591AFE89D}" dt="2026-09-07T13:15:45.336" v="68" actId="255"/>
          <ac:spMkLst>
            <pc:docMk/>
            <pc:sldMk cId="3863610428" sldId="342"/>
            <ac:spMk id="2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957406" y="4095770"/>
            <a:ext cx="7833729" cy="861497"/>
          </a:xfrm>
        </p:spPr>
        <p:txBody>
          <a:bodyPr vert="horz" wrap="square" lIns="91440" tIns="45720" rIns="91440" bIns="45720" rtlCol="0" anchor="t">
            <a:normAutofit/>
          </a:bodyPr>
          <a:lstStyle/>
          <a:p>
            <a:r>
              <a:rPr sz="1800" b="0" dirty="0"/>
              <a:t>Student Name</a:t>
            </a:r>
            <a:r>
              <a:rPr lang="en-US" sz="1800" b="0" dirty="0"/>
              <a:t>: </a:t>
            </a:r>
            <a:r>
              <a:rPr lang="en-US" sz="1800" b="0" dirty="0" err="1"/>
              <a:t>Chidibomma</a:t>
            </a:r>
            <a:r>
              <a:rPr lang="en-US" sz="1800" b="0" dirty="0"/>
              <a:t> Anand Santhosh</a:t>
            </a:r>
            <a:br>
              <a:rPr dirty="0"/>
            </a:br>
            <a:r>
              <a:rPr sz="1800" b="0" dirty="0"/>
              <a:t>College Name: </a:t>
            </a:r>
            <a:r>
              <a:rPr lang="en-IN" b="0" dirty="0"/>
              <a:t>International Institute of Business Studies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756578"/>
            <a:ext cx="9669406" cy="743448"/>
          </a:xfrm>
        </p:spPr>
        <p:txBody>
          <a:bodyPr wrap="square">
            <a:noAutofit/>
          </a:bodyPr>
          <a:lstStyle/>
          <a:p>
            <a:pPr algn="l"/>
            <a:r>
              <a:rPr b="1" dirty="0"/>
              <a:t>Project Title - Seasonal Agriculture Performance Analysis</a:t>
            </a:r>
            <a:endParaRPr lang="en-IN"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wrap="square"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957267"/>
            <a:ext cx="4405426" cy="323165"/>
          </a:xfrm>
          <a:prstGeom prst="rect">
            <a:avLst/>
          </a:prstGeom>
          <a:noFill/>
        </p:spPr>
        <p:txBody>
          <a:bodyPr wrap="square" rtlCol="0">
            <a:spAutoFit/>
          </a:bodyPr>
          <a:lstStyle/>
          <a:p>
            <a:r>
              <a:rPr sz="1500" b="0" dirty="0"/>
              <a:t>AICTE STU ID: </a:t>
            </a:r>
            <a:r>
              <a:rPr lang="en-IN" sz="1500" dirty="0"/>
              <a:t> STU6a5f97fb47ad41784649723</a:t>
            </a:r>
            <a:endParaRPr sz="1500" b="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968843"/>
            <a:ext cx="6801803" cy="3514700"/>
          </a:xfrm>
        </p:spPr>
        <p:txBody>
          <a:bodyPr vert="horz" wrap="square" lIns="91440" tIns="45720" rIns="91440" bIns="45720" rtlCol="0" anchor="t">
            <a:normAutofit fontScale="85000" lnSpcReduction="10000"/>
          </a:bodyPr>
          <a:lstStyle/>
          <a:p>
            <a:pPr>
              <a:lnSpc>
                <a:spcPct val="150000"/>
              </a:lnSpc>
            </a:pPr>
            <a:r>
              <a:rPr lang="en-US" sz="1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sz="1800" b="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980466"/>
            <a:ext cx="6995604" cy="790111"/>
          </a:xfrm>
        </p:spPr>
        <p:txBody>
          <a:bodyPr wrap="square">
            <a:normAutofit/>
          </a:bodyPr>
          <a:lstStyle/>
          <a:p>
            <a:pPr algn="l"/>
            <a:r>
              <a:rPr sz="2400" b="1"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1191655"/>
            <a:ext cx="6276109" cy="830997"/>
          </a:xfrm>
        </p:spPr>
        <p:txBody>
          <a:bodyPr wrap="square">
            <a:normAutofit/>
          </a:bodyPr>
          <a:lstStyle/>
          <a:p>
            <a:pPr algn="l"/>
            <a:r>
              <a:rPr sz="2400" b="1"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60399" y="2468880"/>
            <a:ext cx="10332720" cy="1733808"/>
          </a:xfrm>
          <a:prstGeom prst="rect">
            <a:avLst/>
          </a:prstGeom>
          <a:noFill/>
        </p:spPr>
        <p:txBody>
          <a:bodyPr wrap="square">
            <a:spAutoFit/>
          </a:bodyPr>
          <a:lstStyle/>
          <a:p>
            <a:pPr>
              <a:spcAft>
                <a:spcPts val="800"/>
              </a:spcAft>
              <a:defRPr sz="1600"/>
            </a:pPr>
            <a:r>
              <a:rPr dirty="0">
                <a:latin typeface="Times New Roman" panose="02020603050405020304" pitchFamily="18" charset="0"/>
                <a:cs typeface="Times New Roman" panose="02020603050405020304" pitchFamily="18" charset="0"/>
              </a:rPr>
              <a:t>• Analyze 4,000 farm records covering 8 states, 8 crops, 3 seasons and 4 irrigation methods.</a:t>
            </a:r>
          </a:p>
          <a:p>
            <a:pPr>
              <a:spcAft>
                <a:spcPts val="800"/>
              </a:spcAft>
              <a:defRPr sz="1600"/>
            </a:pPr>
            <a:r>
              <a:rPr dirty="0">
                <a:latin typeface="Times New Roman" panose="02020603050405020304" pitchFamily="18" charset="0"/>
                <a:cs typeface="Times New Roman" panose="02020603050405020304" pitchFamily="18" charset="0"/>
              </a:rPr>
              <a:t>• Study yield, production, market price, cost, revenue, profit, water use and disease/pest risk.</a:t>
            </a:r>
          </a:p>
          <a:p>
            <a:pPr>
              <a:spcAft>
                <a:spcPts val="800"/>
              </a:spcAft>
              <a:defRPr sz="1600"/>
            </a:pPr>
            <a:r>
              <a:rPr dirty="0">
                <a:latin typeface="Times New Roman" panose="02020603050405020304" pitchFamily="18" charset="0"/>
                <a:cs typeface="Times New Roman" panose="02020603050405020304" pitchFamily="18" charset="0"/>
              </a:rPr>
              <a:t>• Compare performance across crops, seasons, states and irrigation methods using visualizations.</a:t>
            </a:r>
          </a:p>
          <a:p>
            <a:pPr>
              <a:spcAft>
                <a:spcPts val="800"/>
              </a:spcAft>
              <a:defRPr sz="1600"/>
            </a:pPr>
            <a:r>
              <a:rPr dirty="0">
                <a:latin typeface="Times New Roman" panose="02020603050405020304" pitchFamily="18" charset="0"/>
                <a:cs typeface="Times New Roman" panose="02020603050405020304" pitchFamily="18" charset="0"/>
              </a:rPr>
              <a:t>• Identify useful patterns and relationships to support data-driven agricultural planning.</a:t>
            </a:r>
          </a:p>
          <a:p>
            <a:pPr>
              <a:spcAft>
                <a:spcPts val="800"/>
              </a:spcAft>
              <a:defRPr sz="1600"/>
            </a:pPr>
            <a:r>
              <a:rPr dirty="0">
                <a:latin typeface="Times New Roman" panose="02020603050405020304" pitchFamily="18" charset="0"/>
                <a:cs typeface="Times New Roman" panose="02020603050405020304" pitchFamily="18" charset="0"/>
              </a:rPr>
              <a:t>• Dataset has 28 variables; 120 missing values are present across rainfall, soil moisture and yield.</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1255558"/>
            <a:ext cx="10046070" cy="802641"/>
          </a:xfrm>
        </p:spPr>
        <p:txBody>
          <a:bodyPr wrap="square">
            <a:normAutofit/>
          </a:bodyPr>
          <a:lstStyle/>
          <a:p>
            <a:pPr algn="l"/>
            <a:r>
              <a:rPr sz="2400" b="1"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620008" y="2366096"/>
            <a:ext cx="9875520" cy="4114800"/>
          </a:xfrm>
          <a:prstGeom prst="rect">
            <a:avLst/>
          </a:prstGeom>
          <a:noFill/>
        </p:spPr>
        <p:txBody>
          <a:bodyPr wrap="square">
            <a:spAutoFit/>
          </a:bodyPr>
          <a:lstStyle/>
          <a:p>
            <a:pPr>
              <a:spcAft>
                <a:spcPts val="800"/>
              </a:spcAft>
              <a:defRPr sz="1800"/>
            </a:pPr>
            <a:r>
              <a:rPr dirty="0"/>
              <a:t>• Farmers – compare crop and irrigation performance and understand profitability.</a:t>
            </a:r>
          </a:p>
          <a:p>
            <a:pPr>
              <a:spcAft>
                <a:spcPts val="800"/>
              </a:spcAft>
              <a:defRPr sz="1800"/>
            </a:pPr>
            <a:r>
              <a:rPr dirty="0"/>
              <a:t>• Agricultural officers – monitor regional and seasonal performance.</a:t>
            </a:r>
          </a:p>
          <a:p>
            <a:pPr>
              <a:spcAft>
                <a:spcPts val="800"/>
              </a:spcAft>
              <a:defRPr sz="1800"/>
            </a:pPr>
            <a:r>
              <a:rPr dirty="0"/>
              <a:t>• Agri-businesses – evaluate production, costs, market prices and profits.</a:t>
            </a:r>
          </a:p>
          <a:p>
            <a:pPr>
              <a:spcAft>
                <a:spcPts val="800"/>
              </a:spcAft>
              <a:defRPr sz="1800"/>
            </a:pPr>
            <a:r>
              <a:rPr dirty="0"/>
              <a:t>• Researchers / students – explore agricultural trends and relationships.</a:t>
            </a:r>
          </a:p>
          <a:p>
            <a:pPr>
              <a:spcAft>
                <a:spcPts val="800"/>
              </a:spcAft>
              <a:defRPr sz="1800"/>
            </a:pPr>
            <a:r>
              <a:rPr dirty="0"/>
              <a:t>• Policy planners – use summarized evidence for resource and water-management decisions.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754610" y="926262"/>
            <a:ext cx="5306291" cy="847817"/>
          </a:xfrm>
        </p:spPr>
        <p:txBody>
          <a:bodyPr wrap="square">
            <a:normAutofit/>
          </a:bodyPr>
          <a:lstStyle/>
          <a:p>
            <a:pPr algn="l"/>
            <a:r>
              <a:rPr sz="2400" b="1" dirty="0"/>
              <a:t>TECHNOLOGY USED</a:t>
            </a:r>
          </a:p>
        </p:txBody>
      </p:sp>
      <p:sp>
        <p:nvSpPr>
          <p:cNvPr id="17" name="TextBox 16"/>
          <p:cNvSpPr txBox="1"/>
          <p:nvPr/>
        </p:nvSpPr>
        <p:spPr>
          <a:xfrm>
            <a:off x="754610" y="1897710"/>
            <a:ext cx="10424160" cy="4389120"/>
          </a:xfrm>
          <a:prstGeom prst="rect">
            <a:avLst/>
          </a:prstGeom>
          <a:noFill/>
        </p:spPr>
        <p:txBody>
          <a:bodyPr wrap="square">
            <a:spAutoFit/>
          </a:bodyPr>
          <a:lstStyle/>
          <a:p>
            <a:pPr>
              <a:spcAft>
                <a:spcPts val="800"/>
              </a:spcAft>
              <a:defRPr sz="1800"/>
            </a:pPr>
            <a:r>
              <a:rPr dirty="0"/>
              <a:t>• Python – data analysis and visualization.</a:t>
            </a:r>
          </a:p>
          <a:p>
            <a:pPr>
              <a:spcAft>
                <a:spcPts val="800"/>
              </a:spcAft>
              <a:defRPr sz="1800"/>
            </a:pPr>
            <a:r>
              <a:rPr dirty="0"/>
              <a:t>• Pandas – data loading, cleaning, grouping and statistical analysis.</a:t>
            </a:r>
          </a:p>
          <a:p>
            <a:pPr>
              <a:spcAft>
                <a:spcPts val="800"/>
              </a:spcAft>
              <a:defRPr sz="1800"/>
            </a:pPr>
            <a:r>
              <a:rPr dirty="0"/>
              <a:t>• Matplotlib – charts and visual presentation of results.</a:t>
            </a:r>
          </a:p>
          <a:p>
            <a:pPr>
              <a:spcAft>
                <a:spcPts val="800"/>
              </a:spcAft>
              <a:defRPr sz="1800"/>
            </a:pPr>
            <a:r>
              <a:rPr dirty="0"/>
              <a:t>• CSV dataset – structured source containing 4,000 farm records and 28 variables.</a:t>
            </a:r>
          </a:p>
          <a:p>
            <a:pPr>
              <a:spcAft>
                <a:spcPts val="800"/>
              </a:spcAft>
              <a:defRPr sz="1800"/>
            </a:pPr>
            <a:r>
              <a:rPr dirty="0"/>
              <a:t>• Microsoft PowerPoint – presentation of project findings.</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92DBE8-3A43-11C9-E58A-2D6E70BBBD55}"/>
              </a:ext>
            </a:extLst>
          </p:cNvPr>
          <p:cNvPicPr>
            <a:picLocks noChangeAspect="1"/>
          </p:cNvPicPr>
          <p:nvPr/>
        </p:nvPicPr>
        <p:blipFill>
          <a:blip r:embed="rId2"/>
          <a:stretch>
            <a:fillRect/>
          </a:stretch>
        </p:blipFill>
        <p:spPr>
          <a:xfrm>
            <a:off x="609601" y="953327"/>
            <a:ext cx="9448799" cy="4753638"/>
          </a:xfrm>
          <a:prstGeom prst="rect">
            <a:avLst/>
          </a:prstGeom>
        </p:spPr>
      </p:pic>
      <p:sp>
        <p:nvSpPr>
          <p:cNvPr id="5" name="TextBox 4">
            <a:extLst>
              <a:ext uri="{FF2B5EF4-FFF2-40B4-BE49-F238E27FC236}">
                <a16:creationId xmlns:a16="http://schemas.microsoft.com/office/drawing/2014/main" id="{596387FC-5564-E477-408E-D336F6024A2A}"/>
              </a:ext>
            </a:extLst>
          </p:cNvPr>
          <p:cNvSpPr txBox="1"/>
          <p:nvPr/>
        </p:nvSpPr>
        <p:spPr>
          <a:xfrm>
            <a:off x="1114168" y="190662"/>
            <a:ext cx="6100118" cy="646331"/>
          </a:xfrm>
          <a:prstGeom prst="rect">
            <a:avLst/>
          </a:prstGeom>
          <a:noFill/>
        </p:spPr>
        <p:txBody>
          <a:bodyPr wrap="square">
            <a:spAutoFit/>
          </a:bodyPr>
          <a:lstStyle/>
          <a:p>
            <a:r>
              <a:rPr lang="en-US" sz="3600" dirty="0"/>
              <a:t>RESULTS</a:t>
            </a:r>
            <a:endParaRPr lang="en-IN" sz="3600" dirty="0"/>
          </a:p>
        </p:txBody>
      </p:sp>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sp>
        <p:nvSpPr>
          <p:cNvPr id="33" name="TextBox 32"/>
          <p:cNvSpPr txBox="1"/>
          <p:nvPr/>
        </p:nvSpPr>
        <p:spPr>
          <a:xfrm>
            <a:off x="524751" y="470792"/>
            <a:ext cx="10698480" cy="523220"/>
          </a:xfrm>
          <a:prstGeom prst="rect">
            <a:avLst/>
          </a:prstGeom>
          <a:noFill/>
        </p:spPr>
        <p:txBody>
          <a:bodyPr wrap="square">
            <a:spAutoFit/>
          </a:bodyPr>
          <a:lstStyle/>
          <a:p>
            <a:r>
              <a:rPr lang="en-US" sz="2800" dirty="0"/>
              <a:t>RESULTS</a:t>
            </a:r>
            <a:endParaRPr lang="en-IN" sz="2800" dirty="0"/>
          </a:p>
        </p:txBody>
      </p:sp>
      <p:pic>
        <p:nvPicPr>
          <p:cNvPr id="3" name="Picture 2">
            <a:extLst>
              <a:ext uri="{FF2B5EF4-FFF2-40B4-BE49-F238E27FC236}">
                <a16:creationId xmlns:a16="http://schemas.microsoft.com/office/drawing/2014/main" id="{66A53E43-6E3C-F97F-7742-CF310DD9D182}"/>
              </a:ext>
            </a:extLst>
          </p:cNvPr>
          <p:cNvPicPr>
            <a:picLocks noChangeAspect="1"/>
          </p:cNvPicPr>
          <p:nvPr/>
        </p:nvPicPr>
        <p:blipFill>
          <a:blip r:embed="rId2"/>
          <a:stretch>
            <a:fillRect/>
          </a:stretch>
        </p:blipFill>
        <p:spPr>
          <a:xfrm>
            <a:off x="524752" y="1435346"/>
            <a:ext cx="4895746" cy="3229426"/>
          </a:xfrm>
          <a:prstGeom prst="rect">
            <a:avLst/>
          </a:prstGeom>
        </p:spPr>
      </p:pic>
      <p:pic>
        <p:nvPicPr>
          <p:cNvPr id="5" name="Picture 4">
            <a:extLst>
              <a:ext uri="{FF2B5EF4-FFF2-40B4-BE49-F238E27FC236}">
                <a16:creationId xmlns:a16="http://schemas.microsoft.com/office/drawing/2014/main" id="{7EC81F57-78A9-EE48-6F6F-BBE9EBF2A827}"/>
              </a:ext>
            </a:extLst>
          </p:cNvPr>
          <p:cNvPicPr>
            <a:picLocks noChangeAspect="1"/>
          </p:cNvPicPr>
          <p:nvPr/>
        </p:nvPicPr>
        <p:blipFill>
          <a:blip r:embed="rId3"/>
          <a:stretch>
            <a:fillRect/>
          </a:stretch>
        </p:blipFill>
        <p:spPr>
          <a:xfrm>
            <a:off x="6096000" y="1251132"/>
            <a:ext cx="5613945" cy="3907911"/>
          </a:xfrm>
          <a:prstGeom prst="rect">
            <a:avLst/>
          </a:prstGeom>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sp>
        <p:nvSpPr>
          <p:cNvPr id="33" name="TextBox 32"/>
          <p:cNvSpPr txBox="1"/>
          <p:nvPr/>
        </p:nvSpPr>
        <p:spPr>
          <a:xfrm>
            <a:off x="936642" y="330749"/>
            <a:ext cx="10698480" cy="523220"/>
          </a:xfrm>
          <a:prstGeom prst="rect">
            <a:avLst/>
          </a:prstGeom>
          <a:noFill/>
        </p:spPr>
        <p:txBody>
          <a:bodyPr wrap="square">
            <a:spAutoFit/>
          </a:bodyPr>
          <a:lstStyle/>
          <a:p>
            <a:r>
              <a:rPr lang="en-US" sz="2800" dirty="0"/>
              <a:t>RESULTS</a:t>
            </a:r>
            <a:endParaRPr lang="en-IN" sz="2800" dirty="0"/>
          </a:p>
        </p:txBody>
      </p:sp>
      <p:pic>
        <p:nvPicPr>
          <p:cNvPr id="3" name="Picture 2">
            <a:extLst>
              <a:ext uri="{FF2B5EF4-FFF2-40B4-BE49-F238E27FC236}">
                <a16:creationId xmlns:a16="http://schemas.microsoft.com/office/drawing/2014/main" id="{1DE59DDD-6197-7150-42A4-EE7D4A751940}"/>
              </a:ext>
            </a:extLst>
          </p:cNvPr>
          <p:cNvPicPr>
            <a:picLocks noChangeAspect="1"/>
          </p:cNvPicPr>
          <p:nvPr/>
        </p:nvPicPr>
        <p:blipFill>
          <a:blip r:embed="rId2"/>
          <a:stretch>
            <a:fillRect/>
          </a:stretch>
        </p:blipFill>
        <p:spPr>
          <a:xfrm>
            <a:off x="431628" y="1433382"/>
            <a:ext cx="4675401" cy="3451655"/>
          </a:xfrm>
          <a:prstGeom prst="rect">
            <a:avLst/>
          </a:prstGeom>
        </p:spPr>
      </p:pic>
      <p:pic>
        <p:nvPicPr>
          <p:cNvPr id="5" name="Picture 4">
            <a:extLst>
              <a:ext uri="{FF2B5EF4-FFF2-40B4-BE49-F238E27FC236}">
                <a16:creationId xmlns:a16="http://schemas.microsoft.com/office/drawing/2014/main" id="{123E8124-E8C5-77A9-4BDF-3EC89F2D1F9A}"/>
              </a:ext>
            </a:extLst>
          </p:cNvPr>
          <p:cNvPicPr>
            <a:picLocks noChangeAspect="1"/>
          </p:cNvPicPr>
          <p:nvPr/>
        </p:nvPicPr>
        <p:blipFill>
          <a:blip r:embed="rId3"/>
          <a:stretch>
            <a:fillRect/>
          </a:stretch>
        </p:blipFill>
        <p:spPr>
          <a:xfrm>
            <a:off x="5107029" y="1567386"/>
            <a:ext cx="6209553" cy="3451655"/>
          </a:xfrm>
          <a:prstGeom prst="rect">
            <a:avLst/>
          </a:prstGeom>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sp>
        <p:nvSpPr>
          <p:cNvPr id="33" name="TextBox 32"/>
          <p:cNvSpPr txBox="1"/>
          <p:nvPr/>
        </p:nvSpPr>
        <p:spPr>
          <a:xfrm>
            <a:off x="746760" y="470793"/>
            <a:ext cx="10698480" cy="523220"/>
          </a:xfrm>
          <a:prstGeom prst="rect">
            <a:avLst/>
          </a:prstGeom>
          <a:noFill/>
        </p:spPr>
        <p:txBody>
          <a:bodyPr wrap="square">
            <a:spAutoFit/>
          </a:bodyPr>
          <a:lstStyle/>
          <a:p>
            <a:r>
              <a:rPr lang="en-US" sz="2800" dirty="0"/>
              <a:t>RESULTS</a:t>
            </a:r>
            <a:endParaRPr lang="en-IN" sz="2800" dirty="0"/>
          </a:p>
        </p:txBody>
      </p:sp>
      <p:pic>
        <p:nvPicPr>
          <p:cNvPr id="3" name="Picture 2">
            <a:extLst>
              <a:ext uri="{FF2B5EF4-FFF2-40B4-BE49-F238E27FC236}">
                <a16:creationId xmlns:a16="http://schemas.microsoft.com/office/drawing/2014/main" id="{F97B5845-39FD-F86A-9A06-9712D4135D8E}"/>
              </a:ext>
            </a:extLst>
          </p:cNvPr>
          <p:cNvPicPr>
            <a:picLocks noChangeAspect="1"/>
          </p:cNvPicPr>
          <p:nvPr/>
        </p:nvPicPr>
        <p:blipFill>
          <a:blip r:embed="rId2"/>
          <a:stretch>
            <a:fillRect/>
          </a:stretch>
        </p:blipFill>
        <p:spPr>
          <a:xfrm>
            <a:off x="1746421" y="1455872"/>
            <a:ext cx="7348894" cy="3946256"/>
          </a:xfrm>
          <a:prstGeom prst="rect">
            <a:avLst/>
          </a:prstGeom>
        </p:spPr>
      </p:pic>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sp>
        <p:nvSpPr>
          <p:cNvPr id="24" name="TextBox 23"/>
          <p:cNvSpPr txBox="1"/>
          <p:nvPr/>
        </p:nvSpPr>
        <p:spPr>
          <a:xfrm>
            <a:off x="649142" y="2006737"/>
            <a:ext cx="10515600" cy="4572000"/>
          </a:xfrm>
          <a:prstGeom prst="rect">
            <a:avLst/>
          </a:prstGeom>
          <a:noFill/>
        </p:spPr>
        <p:txBody>
          <a:bodyPr wrap="square">
            <a:spAutoFit/>
          </a:bodyPr>
          <a:lstStyle/>
          <a:p>
            <a:pPr>
              <a:spcAft>
                <a:spcPts val="800"/>
              </a:spcAft>
              <a:defRPr sz="1700"/>
            </a:pPr>
            <a:r>
              <a:rPr dirty="0"/>
              <a:t>• Build an interactive dashboard in Power BI or Tableau for filtering by state, crop and season.</a:t>
            </a:r>
          </a:p>
          <a:p>
            <a:pPr>
              <a:spcAft>
                <a:spcPts val="800"/>
              </a:spcAft>
              <a:defRPr sz="1700"/>
            </a:pPr>
            <a:r>
              <a:rPr dirty="0"/>
              <a:t>• Apply predictive models to forecast yield and farm profit.</a:t>
            </a:r>
          </a:p>
          <a:p>
            <a:pPr>
              <a:spcAft>
                <a:spcPts val="800"/>
              </a:spcAft>
              <a:defRPr sz="1700"/>
            </a:pPr>
            <a:r>
              <a:rPr dirty="0"/>
              <a:t>• Add weather forecasts and real-time soil/moisture sensor data.</a:t>
            </a:r>
          </a:p>
          <a:p>
            <a:pPr>
              <a:spcAft>
                <a:spcPts val="800"/>
              </a:spcAft>
              <a:defRPr sz="1700"/>
            </a:pPr>
            <a:r>
              <a:rPr dirty="0"/>
              <a:t>• Develop crop and irrigation recommendations based on historical performance.</a:t>
            </a:r>
          </a:p>
          <a:p>
            <a:pPr>
              <a:spcAft>
                <a:spcPts val="800"/>
              </a:spcAft>
              <a:defRPr sz="1700"/>
            </a:pPr>
            <a:r>
              <a:rPr dirty="0"/>
              <a:t>• Use geospatial maps to identify high- and low-performing agricultural regions.</a:t>
            </a:r>
          </a:p>
          <a:p>
            <a:pPr>
              <a:spcAft>
                <a:spcPts val="800"/>
              </a:spcAft>
              <a:defRPr sz="1700"/>
            </a:pPr>
            <a:r>
              <a:rPr dirty="0"/>
              <a:t>• Improve data quality through systematic missing-value treatment and outlier detection.</a:t>
            </a:r>
          </a:p>
        </p:txBody>
      </p:sp>
      <p:sp>
        <p:nvSpPr>
          <p:cNvPr id="3" name="TextBox 2">
            <a:extLst>
              <a:ext uri="{FF2B5EF4-FFF2-40B4-BE49-F238E27FC236}">
                <a16:creationId xmlns:a16="http://schemas.microsoft.com/office/drawing/2014/main" id="{7B6A3F97-DEC0-76DE-0D3E-6BF9E6C29087}"/>
              </a:ext>
            </a:extLst>
          </p:cNvPr>
          <p:cNvSpPr txBox="1"/>
          <p:nvPr/>
        </p:nvSpPr>
        <p:spPr>
          <a:xfrm>
            <a:off x="731520" y="536283"/>
            <a:ext cx="10515600" cy="523220"/>
          </a:xfrm>
          <a:prstGeom prst="rect">
            <a:avLst/>
          </a:prstGeom>
          <a:noFill/>
        </p:spPr>
        <p:txBody>
          <a:bodyPr wrap="square">
            <a:spAutoFit/>
          </a:bodyPr>
          <a:lstStyle/>
          <a:p>
            <a:pPr>
              <a:spcAft>
                <a:spcPts val="800"/>
              </a:spcAft>
              <a:defRPr sz="1700"/>
            </a:pPr>
            <a:r>
              <a:rPr lang="en-US" sz="2800" b="1" dirty="0"/>
              <a:t>Future Scope</a:t>
            </a:r>
            <a:endParaRPr sz="2800" b="1" dirty="0"/>
          </a:p>
        </p:txBody>
      </p:sp>
    </p:spTree>
    <p:extLst>
      <p:ext uri="{BB962C8B-B14F-4D97-AF65-F5344CB8AC3E}">
        <p14:creationId xmlns:p14="http://schemas.microsoft.com/office/powerpoint/2010/main" val="776828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sp>
        <p:nvSpPr>
          <p:cNvPr id="24" name="TextBox 23"/>
          <p:cNvSpPr txBox="1"/>
          <p:nvPr/>
        </p:nvSpPr>
        <p:spPr>
          <a:xfrm>
            <a:off x="460495" y="593124"/>
            <a:ext cx="10058400" cy="646331"/>
          </a:xfrm>
          <a:prstGeom prst="rect">
            <a:avLst/>
          </a:prstGeom>
          <a:noFill/>
        </p:spPr>
        <p:txBody>
          <a:bodyPr wrap="square">
            <a:spAutoFit/>
          </a:bodyPr>
          <a:lstStyle/>
          <a:p>
            <a:pPr>
              <a:spcAft>
                <a:spcPts val="800"/>
              </a:spcAft>
              <a:defRPr sz="1800"/>
            </a:pPr>
            <a:r>
              <a:rPr sz="3600" dirty="0"/>
              <a:t>• GitHub repository</a:t>
            </a:r>
            <a:r>
              <a:rPr lang="en-IN" sz="3600" dirty="0"/>
              <a:t>: [</a:t>
            </a:r>
            <a:r>
              <a:rPr sz="3600" dirty="0"/>
              <a:t>link]</a:t>
            </a:r>
          </a:p>
        </p:txBody>
      </p:sp>
      <p:sp>
        <p:nvSpPr>
          <p:cNvPr id="3" name="TextBox 2">
            <a:extLst>
              <a:ext uri="{FF2B5EF4-FFF2-40B4-BE49-F238E27FC236}">
                <a16:creationId xmlns:a16="http://schemas.microsoft.com/office/drawing/2014/main" id="{D656E143-0464-6D3B-F76B-85332906ECA9}"/>
              </a:ext>
            </a:extLst>
          </p:cNvPr>
          <p:cNvSpPr txBox="1"/>
          <p:nvPr/>
        </p:nvSpPr>
        <p:spPr>
          <a:xfrm>
            <a:off x="842682" y="2169459"/>
            <a:ext cx="8937812" cy="830997"/>
          </a:xfrm>
          <a:prstGeom prst="rect">
            <a:avLst/>
          </a:prstGeom>
          <a:noFill/>
        </p:spPr>
        <p:txBody>
          <a:bodyPr wrap="square">
            <a:spAutoFit/>
          </a:bodyPr>
          <a:lstStyle/>
          <a:p>
            <a:r>
              <a:rPr lang="en-IN" sz="2400" dirty="0"/>
              <a:t>https://github.com/Anand9989/seasonal-agriculture-performance-analysis.git</a:t>
            </a:r>
          </a:p>
        </p:txBody>
      </p:sp>
    </p:spTree>
    <p:extLst>
      <p:ext uri="{BB962C8B-B14F-4D97-AF65-F5344CB8AC3E}">
        <p14:creationId xmlns:p14="http://schemas.microsoft.com/office/powerpoint/2010/main" val="3863610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sp>
        <p:nvSpPr>
          <p:cNvPr id="24" name="TextBox 23"/>
          <p:cNvSpPr txBox="1"/>
          <p:nvPr/>
        </p:nvSpPr>
        <p:spPr>
          <a:xfrm>
            <a:off x="601361" y="356585"/>
            <a:ext cx="9601200" cy="523220"/>
          </a:xfrm>
          <a:prstGeom prst="rect">
            <a:avLst/>
          </a:prstGeom>
          <a:noFill/>
        </p:spPr>
        <p:txBody>
          <a:bodyPr wrap="square">
            <a:spAutoFit/>
          </a:bodyPr>
          <a:lstStyle/>
          <a:p>
            <a:pPr>
              <a:spcAft>
                <a:spcPts val="800"/>
              </a:spcAft>
              <a:defRPr sz="2000"/>
            </a:pPr>
            <a:r>
              <a:rPr sz="2800" dirty="0"/>
              <a:t>VOIS Data Visualization course completion certificate</a:t>
            </a:r>
          </a:p>
        </p:txBody>
      </p:sp>
      <p:pic>
        <p:nvPicPr>
          <p:cNvPr id="3" name="Picture 2">
            <a:extLst>
              <a:ext uri="{FF2B5EF4-FFF2-40B4-BE49-F238E27FC236}">
                <a16:creationId xmlns:a16="http://schemas.microsoft.com/office/drawing/2014/main" id="{E71B5EF7-F057-1F7C-AD00-12204FB52468}"/>
              </a:ext>
            </a:extLst>
          </p:cNvPr>
          <p:cNvPicPr>
            <a:picLocks noChangeAspect="1"/>
          </p:cNvPicPr>
          <p:nvPr/>
        </p:nvPicPr>
        <p:blipFill>
          <a:blip r:embed="rId2"/>
          <a:stretch>
            <a:fillRect/>
          </a:stretch>
        </p:blipFill>
        <p:spPr>
          <a:xfrm>
            <a:off x="2016355" y="1053384"/>
            <a:ext cx="7154273" cy="5029902"/>
          </a:xfrm>
          <a:prstGeom prst="rect">
            <a:avLst/>
          </a:prstGeom>
        </p:spPr>
      </p:pic>
    </p:spTree>
    <p:extLst>
      <p:ext uri="{BB962C8B-B14F-4D97-AF65-F5344CB8AC3E}">
        <p14:creationId xmlns:p14="http://schemas.microsoft.com/office/powerpoint/2010/main" val="3962802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5"/>
          <p:cNvSpPr txBox="1"/>
          <p:nvPr/>
        </p:nvSpPr>
        <p:spPr>
          <a:xfrm>
            <a:off x="168876" y="2527369"/>
            <a:ext cx="11247120" cy="1107996"/>
          </a:xfrm>
          <a:prstGeom prst="rect">
            <a:avLst/>
          </a:prstGeom>
          <a:noFill/>
        </p:spPr>
        <p:txBody>
          <a:bodyPr wrap="square">
            <a:spAutoFit/>
          </a:bodyPr>
          <a:lstStyle/>
          <a:p>
            <a:pPr algn="ctr"/>
            <a:r>
              <a:rPr sz="6600" b="1" dirty="0"/>
              <a:t>THANK YOU</a:t>
            </a:r>
          </a:p>
        </p:txBody>
      </p:sp>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579</TotalTime>
  <Words>441</Words>
  <Application>Microsoft Office PowerPoint</Application>
  <PresentationFormat>Widescreen</PresentationFormat>
  <Paragraphs>39</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Times New Roman</vt:lpstr>
      <vt:lpstr>Trebuchet MS</vt:lpstr>
      <vt:lpstr>Wingdings</vt:lpstr>
      <vt:lpstr>Wingdings 3</vt:lpstr>
      <vt:lpstr>Facet</vt:lpstr>
      <vt:lpstr>Project Title - Seasonal Agriculture Performance Analysis</vt:lpstr>
      <vt:lpstr>PROBLEM STATEMENT</vt:lpstr>
      <vt:lpstr>PROJECT DESCRIPTION</vt:lpstr>
      <vt:lpstr>WHO ARE THE END USERS?</vt:lpstr>
      <vt:lpstr>TECHNOLOGY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amrutha ch</cp:lastModifiedBy>
  <cp:revision>98</cp:revision>
  <dcterms:created xsi:type="dcterms:W3CDTF">2021-07-11T13:13:15Z</dcterms:created>
  <dcterms:modified xsi:type="dcterms:W3CDTF">2026-09-07T13:16:05Z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